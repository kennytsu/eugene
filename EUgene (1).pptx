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453"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96086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Europe has over 100 million more people than the United States, yet when you look at the technologies people in the US rely on every single day almost none of them were built in Europe.
But whats holding europe back?
We can dig a little deeper. Let's start with the borders. The European Union is a political and economic union, yes, but it's not a single market the same way the US is.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According to Daniel Armar, CFO at
Dutch Hospitality Software Unicorn, Mews, the broader challenge is that Europe, despite its economic size, still operates as a collection of individual countries rather than a unified market in the same way the US does. This makes it harder to build companies at scale. End quote.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startup in Europe has
to deal with 27 different regulatory
systems, 24 official languages, and a
patchwork of tax, labor, and data
laws.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a saying that's going
around online, America innovates and the EU regulates. While this is true at a glance, regulation isn't inherently bad.
However, there's a massive
problem with the European setup. The very same regulations that protect consumers also impose massive compliance costs that smaller startups can't afford.
You could argue that these rules
protect society, but at the same time,
they've also unintentionally raised the bar for entry.
We believe that this is a problem worth solving. And I’d say Let’s jump into a showcase of our solution EUgene with a Live Demo.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you’re building in Europe, this is your new superpower.
Let’s see EUgene in action.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C"/>
        </a:solidFill>
        <a:effectLst/>
      </p:bgPr>
    </p:bg>
    <p:spTree>
      <p:nvGrpSpPr>
        <p:cNvPr id="1" name=""/>
        <p:cNvGrpSpPr/>
        <p:nvPr/>
      </p:nvGrpSpPr>
      <p:grpSpPr>
        <a:xfrm>
          <a:off x="0" y="0"/>
          <a:ext cx="0" cy="0"/>
          <a:chOff x="0" y="0"/>
          <a:chExt cx="0" cy="0"/>
        </a:xfrm>
      </p:grpSpPr>
      <p:pic>
        <p:nvPicPr>
          <p:cNvPr id="3" name="Image 0" descr="https://pitch-assets-ccb95893-de3f-4266-973c-20049231b248.s3.eu-west-1.amazonaws.com/23c08dd6-c1cf-4b9e-b5ec-211edf15c93a?pitch-bytes=165513&amp;pitch-content-type=image%2Fpng"/>
          <p:cNvPicPr>
            <a:picLocks noChangeAspect="1"/>
          </p:cNvPicPr>
          <p:nvPr/>
        </p:nvPicPr>
        <p:blipFill>
          <a:blip r:embed="rId3"/>
          <a:srcRect/>
          <a:stretch/>
        </p:blipFill>
        <p:spPr>
          <a:xfrm>
            <a:off x="3104770" y="1980658"/>
            <a:ext cx="627273" cy="627273"/>
          </a:xfrm>
          <a:prstGeom prst="rect">
            <a:avLst/>
          </a:prstGeom>
        </p:spPr>
      </p:pic>
      <p:sp>
        <p:nvSpPr>
          <p:cNvPr id="4" name="Shape 0"/>
          <p:cNvSpPr/>
          <p:nvPr/>
        </p:nvSpPr>
        <p:spPr>
          <a:xfrm rot="600000">
            <a:off x="3556388" y="1907253"/>
            <a:ext cx="582669" cy="819926"/>
          </a:xfrm>
          <a:prstGeom prst="roundRect">
            <a:avLst>
              <a:gd name="adj" fmla="val 11250"/>
            </a:avLst>
          </a:prstGeom>
          <a:solidFill>
            <a:srgbClr val="FAFAFC"/>
          </a:solidFill>
          <a:ln w="21167">
            <a:solidFill>
              <a:srgbClr val="FAFAFC"/>
            </a:solidFill>
            <a:prstDash val="solid"/>
          </a:ln>
        </p:spPr>
        <p:txBody>
          <a:bodyPr/>
          <a:lstStyle/>
          <a:p>
            <a:endParaRPr lang="en-DE"/>
          </a:p>
        </p:txBody>
      </p:sp>
      <p:sp>
        <p:nvSpPr>
          <p:cNvPr id="5" name="Text 1"/>
          <p:cNvSpPr/>
          <p:nvPr/>
        </p:nvSpPr>
        <p:spPr>
          <a:xfrm>
            <a:off x="476018" y="2820519"/>
            <a:ext cx="8191946" cy="240023"/>
          </a:xfrm>
          <a:prstGeom prst="rect">
            <a:avLst/>
          </a:prstGeom>
          <a:noFill/>
          <a:ln/>
        </p:spPr>
        <p:txBody>
          <a:bodyPr wrap="square" lIns="0" tIns="0" rIns="0" bIns="0" rtlCol="0" anchor="t"/>
          <a:lstStyle/>
          <a:p>
            <a:pPr algn="ctr">
              <a:lnSpc>
                <a:spcPts val="1890"/>
              </a:lnSpc>
            </a:pPr>
            <a:r>
              <a:rPr lang="en-US" sz="1300" b="1" kern="0" spc="24" dirty="0">
                <a:solidFill>
                  <a:srgbClr val="000000">
                    <a:alpha val="40000"/>
                  </a:srgbClr>
                </a:solidFill>
                <a:latin typeface="Inter" pitchFamily="34" charset="0"/>
                <a:ea typeface="Inter" pitchFamily="34" charset="-122"/>
                <a:cs typeface="Inter" pitchFamily="34" charset="-120"/>
              </a:rPr>
              <a:t>WE READ THE RULES. YOU SHIP THE PRODUCT.</a:t>
            </a:r>
            <a:endParaRPr lang="en-US" sz="1050" dirty="0"/>
          </a:p>
        </p:txBody>
      </p:sp>
      <p:sp>
        <p:nvSpPr>
          <p:cNvPr id="6" name="Text 2"/>
          <p:cNvSpPr/>
          <p:nvPr/>
        </p:nvSpPr>
        <p:spPr>
          <a:xfrm>
            <a:off x="476022" y="1974580"/>
            <a:ext cx="8192021" cy="685800"/>
          </a:xfrm>
          <a:prstGeom prst="rect">
            <a:avLst/>
          </a:prstGeom>
          <a:noFill/>
          <a:ln/>
        </p:spPr>
        <p:txBody>
          <a:bodyPr wrap="square" lIns="0" tIns="0" rIns="0" bIns="0" rtlCol="0" anchor="t"/>
          <a:lstStyle/>
          <a:p>
            <a:pPr algn="ctr">
              <a:lnSpc>
                <a:spcPts val="5400"/>
              </a:lnSpc>
            </a:pPr>
            <a:r>
              <a:rPr lang="en-US" sz="4500" b="1" i="1" kern="0" spc="-12" dirty="0">
                <a:solidFill>
                  <a:srgbClr val="000000"/>
                </a:solidFill>
                <a:latin typeface="Inter" pitchFamily="34" charset="0"/>
                <a:ea typeface="Inter" pitchFamily="34" charset="-122"/>
                <a:cs typeface="Inter" pitchFamily="34" charset="-120"/>
              </a:rPr>
              <a:t>EUgene</a:t>
            </a:r>
            <a:endParaRPr lang="en-US" sz="2063"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C"/>
        </a:solidFill>
        <a:effectLst/>
      </p:bgPr>
    </p:bg>
    <p:spTree>
      <p:nvGrpSpPr>
        <p:cNvPr id="1" name=""/>
        <p:cNvGrpSpPr/>
        <p:nvPr/>
      </p:nvGrpSpPr>
      <p:grpSpPr>
        <a:xfrm>
          <a:off x="0" y="0"/>
          <a:ext cx="0" cy="0"/>
          <a:chOff x="0" y="0"/>
          <a:chExt cx="0" cy="0"/>
        </a:xfrm>
      </p:grpSpPr>
      <p:sp>
        <p:nvSpPr>
          <p:cNvPr id="3" name="Text 0"/>
          <p:cNvSpPr/>
          <p:nvPr/>
        </p:nvSpPr>
        <p:spPr>
          <a:xfrm>
            <a:off x="476022" y="2394090"/>
            <a:ext cx="8192021" cy="365745"/>
          </a:xfrm>
          <a:prstGeom prst="rect">
            <a:avLst/>
          </a:prstGeom>
          <a:noFill/>
          <a:ln/>
        </p:spPr>
        <p:txBody>
          <a:bodyPr wrap="square" lIns="0" tIns="0" rIns="0" bIns="0" rtlCol="0" anchor="t"/>
          <a:lstStyle/>
          <a:p>
            <a:pPr algn="ctr">
              <a:lnSpc>
                <a:spcPts val="2880"/>
              </a:lnSpc>
            </a:pPr>
            <a:r>
              <a:rPr lang="en-US" sz="2400" b="1" kern="0" spc="-12" dirty="0">
                <a:solidFill>
                  <a:srgbClr val="000000"/>
                </a:solidFill>
                <a:latin typeface="Inter" pitchFamily="34" charset="0"/>
                <a:ea typeface="Inter" pitchFamily="34" charset="-122"/>
                <a:cs typeface="Inter" pitchFamily="34" charset="-120"/>
              </a:rPr>
              <a:t>But what’s holding Europe back </a:t>
            </a:r>
            <a:r>
              <a:rPr lang="en-US" sz="2400" b="1" kern="0" spc="-12" dirty="0">
                <a:solidFill>
                  <a:srgbClr val="FFCA00"/>
                </a:solidFill>
                <a:latin typeface="Inter" pitchFamily="34" charset="0"/>
                <a:ea typeface="Inter" pitchFamily="34" charset="-122"/>
                <a:cs typeface="Inter" pitchFamily="34" charset="-120"/>
              </a:rPr>
              <a:t>? </a:t>
            </a:r>
            <a:endParaRPr lang="en-US" sz="2063"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C"/>
        </a:solidFill>
        <a:effectLst/>
      </p:bgPr>
    </p:bg>
    <p:spTree>
      <p:nvGrpSpPr>
        <p:cNvPr id="1" name=""/>
        <p:cNvGrpSpPr/>
        <p:nvPr/>
      </p:nvGrpSpPr>
      <p:grpSpPr>
        <a:xfrm>
          <a:off x="0" y="0"/>
          <a:ext cx="0" cy="0"/>
          <a:chOff x="0" y="0"/>
          <a:chExt cx="0" cy="0"/>
        </a:xfrm>
      </p:grpSpPr>
      <p:pic>
        <p:nvPicPr>
          <p:cNvPr id="3" name="Image 0" descr="https://pitch-assets-ccb95893-de3f-4266-973c-20049231b248.s3.eu-west-1.amazonaws.com/5d1a91ee-faf5-4d9b-9414-76b87ff1ad05?pitch-bytes=458262&amp;pitch-content-type=image%2Fpng"/>
          <p:cNvPicPr>
            <a:picLocks noChangeAspect="1"/>
          </p:cNvPicPr>
          <p:nvPr/>
        </p:nvPicPr>
        <p:blipFill>
          <a:blip r:embed="rId3"/>
          <a:srcRect/>
          <a:stretch/>
        </p:blipFill>
        <p:spPr>
          <a:xfrm>
            <a:off x="5162008" y="1162512"/>
            <a:ext cx="3980988" cy="3980988"/>
          </a:xfrm>
          <a:prstGeom prst="rect">
            <a:avLst/>
          </a:prstGeom>
        </p:spPr>
      </p:pic>
      <p:sp>
        <p:nvSpPr>
          <p:cNvPr id="4" name="Text 0"/>
          <p:cNvSpPr/>
          <p:nvPr/>
        </p:nvSpPr>
        <p:spPr>
          <a:xfrm>
            <a:off x="-519096" y="1272956"/>
            <a:ext cx="8191984" cy="2194322"/>
          </a:xfrm>
          <a:prstGeom prst="rect">
            <a:avLst/>
          </a:prstGeom>
          <a:noFill/>
          <a:ln/>
        </p:spPr>
        <p:txBody>
          <a:bodyPr wrap="square" lIns="0" tIns="0" rIns="0" bIns="0" rtlCol="0" anchor="t"/>
          <a:lstStyle/>
          <a:p>
            <a:pPr algn="ctr">
              <a:lnSpc>
                <a:spcPts val="2160"/>
              </a:lnSpc>
            </a:pPr>
            <a:r>
              <a:rPr lang="en-US" sz="1800" b="1" i="1" kern="0" spc="-12" dirty="0">
                <a:solidFill>
                  <a:srgbClr val="FFCA00"/>
                </a:solidFill>
                <a:latin typeface="Inter" pitchFamily="34" charset="0"/>
                <a:ea typeface="Inter" pitchFamily="34" charset="-122"/>
                <a:cs typeface="Inter" pitchFamily="34" charset="-120"/>
              </a:rPr>
              <a:t>“ </a:t>
            </a:r>
            <a:r>
              <a:rPr lang="en-US" sz="1800" b="1" i="1" kern="0" spc="-12" dirty="0">
                <a:solidFill>
                  <a:srgbClr val="000000"/>
                </a:solidFill>
                <a:latin typeface="Inter" pitchFamily="34" charset="0"/>
                <a:ea typeface="Inter" pitchFamily="34" charset="-122"/>
                <a:cs typeface="Inter" pitchFamily="34" charset="-120"/>
              </a:rPr>
              <a:t>The broader challenge is that Europe,</a:t>
            </a:r>
            <a:endParaRPr lang="en-US" sz="1800" dirty="0"/>
          </a:p>
          <a:p>
            <a:pPr algn="ctr">
              <a:lnSpc>
                <a:spcPts val="2160"/>
              </a:lnSpc>
            </a:pPr>
            <a:r>
              <a:rPr lang="en-US" sz="1800" b="1" i="1" kern="0" spc="-12" dirty="0">
                <a:solidFill>
                  <a:srgbClr val="000000"/>
                </a:solidFill>
                <a:latin typeface="Inter" pitchFamily="34" charset="0"/>
                <a:ea typeface="Inter" pitchFamily="34" charset="-122"/>
                <a:cs typeface="Inter" pitchFamily="34" charset="-120"/>
              </a:rPr>
              <a:t>despite its economic size, still operates</a:t>
            </a:r>
            <a:endParaRPr lang="en-US" sz="1800" dirty="0"/>
          </a:p>
          <a:p>
            <a:pPr algn="ctr">
              <a:lnSpc>
                <a:spcPts val="2160"/>
              </a:lnSpc>
            </a:pPr>
            <a:r>
              <a:rPr lang="en-US" sz="1800" b="1" i="1" kern="0" spc="-12" dirty="0">
                <a:solidFill>
                  <a:srgbClr val="000000"/>
                </a:solidFill>
                <a:latin typeface="Inter" pitchFamily="34" charset="0"/>
                <a:ea typeface="Inter" pitchFamily="34" charset="-122"/>
                <a:cs typeface="Inter" pitchFamily="34" charset="-120"/>
              </a:rPr>
              <a:t>as a collection of individual countries </a:t>
            </a:r>
            <a:endParaRPr lang="en-US" sz="1800" dirty="0"/>
          </a:p>
          <a:p>
            <a:pPr algn="ctr">
              <a:lnSpc>
                <a:spcPts val="2160"/>
              </a:lnSpc>
            </a:pPr>
            <a:r>
              <a:rPr lang="en-US" sz="1800" b="1" i="1" kern="0" spc="-12" dirty="0">
                <a:solidFill>
                  <a:srgbClr val="000000"/>
                </a:solidFill>
                <a:latin typeface="Inter" pitchFamily="34" charset="0"/>
                <a:ea typeface="Inter" pitchFamily="34" charset="-122"/>
                <a:cs typeface="Inter" pitchFamily="34" charset="-120"/>
              </a:rPr>
              <a:t>rather than as a unified market in the </a:t>
            </a:r>
            <a:endParaRPr lang="en-US" sz="1800" dirty="0"/>
          </a:p>
          <a:p>
            <a:pPr algn="ctr">
              <a:lnSpc>
                <a:spcPts val="2160"/>
              </a:lnSpc>
            </a:pPr>
            <a:r>
              <a:rPr lang="en-US" sz="1800" b="1" i="1" kern="0" spc="-12" dirty="0">
                <a:solidFill>
                  <a:srgbClr val="000000"/>
                </a:solidFill>
                <a:latin typeface="Inter" pitchFamily="34" charset="0"/>
                <a:ea typeface="Inter" pitchFamily="34" charset="-122"/>
                <a:cs typeface="Inter" pitchFamily="34" charset="-120"/>
              </a:rPr>
              <a:t>way the U.S. does. </a:t>
            </a:r>
            <a:endParaRPr lang="en-US" sz="1800" dirty="0"/>
          </a:p>
          <a:p>
            <a:pPr algn="ctr">
              <a:lnSpc>
                <a:spcPts val="2160"/>
              </a:lnSpc>
            </a:pPr>
            <a:endParaRPr lang="en-US" sz="1800" dirty="0"/>
          </a:p>
          <a:p>
            <a:pPr algn="ctr">
              <a:lnSpc>
                <a:spcPts val="2160"/>
              </a:lnSpc>
            </a:pPr>
            <a:r>
              <a:rPr lang="en-US" sz="1800" b="1" i="1" kern="0" spc="-12" dirty="0">
                <a:solidFill>
                  <a:srgbClr val="000000"/>
                </a:solidFill>
                <a:latin typeface="Inter" pitchFamily="34" charset="0"/>
                <a:ea typeface="Inter" pitchFamily="34" charset="-122"/>
                <a:cs typeface="Inter" pitchFamily="34" charset="-120"/>
              </a:rPr>
              <a:t>This makes it harder to build </a:t>
            </a:r>
            <a:endParaRPr lang="en-US" sz="1800" dirty="0"/>
          </a:p>
          <a:p>
            <a:pPr algn="ctr">
              <a:lnSpc>
                <a:spcPts val="2160"/>
              </a:lnSpc>
            </a:pPr>
            <a:r>
              <a:rPr lang="en-US" sz="1800" b="1" i="1" kern="0" spc="-12" dirty="0">
                <a:solidFill>
                  <a:srgbClr val="000000"/>
                </a:solidFill>
                <a:latin typeface="Inter" pitchFamily="34" charset="0"/>
                <a:ea typeface="Inter" pitchFamily="34" charset="-122"/>
                <a:cs typeface="Inter" pitchFamily="34" charset="-120"/>
              </a:rPr>
              <a:t>companies at scale </a:t>
            </a:r>
            <a:r>
              <a:rPr lang="en-US" sz="1800" b="1" i="1" kern="0" spc="-12" dirty="0">
                <a:solidFill>
                  <a:srgbClr val="FFCA00"/>
                </a:solidFill>
                <a:latin typeface="Inter" pitchFamily="34" charset="0"/>
                <a:ea typeface="Inter" pitchFamily="34" charset="-122"/>
                <a:cs typeface="Inter" pitchFamily="34" charset="-120"/>
              </a:rPr>
              <a:t>”</a:t>
            </a:r>
            <a:endParaRPr lang="en-US" sz="1800" dirty="0"/>
          </a:p>
        </p:txBody>
      </p:sp>
      <p:sp>
        <p:nvSpPr>
          <p:cNvPr id="5" name="Text 1"/>
          <p:cNvSpPr/>
          <p:nvPr/>
        </p:nvSpPr>
        <p:spPr>
          <a:xfrm>
            <a:off x="-519096" y="3675699"/>
            <a:ext cx="8191984" cy="205718"/>
          </a:xfrm>
          <a:prstGeom prst="rect">
            <a:avLst/>
          </a:prstGeom>
          <a:noFill/>
          <a:ln/>
        </p:spPr>
        <p:txBody>
          <a:bodyPr wrap="square" lIns="0" tIns="0" rIns="0" bIns="0" rtlCol="0" anchor="t"/>
          <a:lstStyle/>
          <a:p>
            <a:pPr algn="ctr">
              <a:lnSpc>
                <a:spcPts val="1620"/>
              </a:lnSpc>
              <a:buSzPct val="100000"/>
            </a:pPr>
            <a:r>
              <a:rPr lang="en-US" sz="1400" b="1" kern="0" spc="-12" dirty="0">
                <a:solidFill>
                  <a:srgbClr val="000000">
                    <a:alpha val="40000"/>
                  </a:srgbClr>
                </a:solidFill>
                <a:latin typeface="Inter" pitchFamily="34" charset="0"/>
                <a:ea typeface="Inter" pitchFamily="34" charset="-122"/>
                <a:cs typeface="Inter" pitchFamily="34" charset="-120"/>
              </a:rPr>
              <a:t>- Daniel Ahremark, CFO of Mews -</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C"/>
        </a:solidFill>
        <a:effectLst/>
      </p:bgPr>
    </p:bg>
    <p:spTree>
      <p:nvGrpSpPr>
        <p:cNvPr id="1" name=""/>
        <p:cNvGrpSpPr/>
        <p:nvPr/>
      </p:nvGrpSpPr>
      <p:grpSpPr>
        <a:xfrm>
          <a:off x="0" y="0"/>
          <a:ext cx="0" cy="0"/>
          <a:chOff x="0" y="0"/>
          <a:chExt cx="0" cy="0"/>
        </a:xfrm>
      </p:grpSpPr>
      <p:sp>
        <p:nvSpPr>
          <p:cNvPr id="3" name="Text 0"/>
          <p:cNvSpPr/>
          <p:nvPr/>
        </p:nvSpPr>
        <p:spPr>
          <a:xfrm>
            <a:off x="476040" y="1462623"/>
            <a:ext cx="8191985" cy="365745"/>
          </a:xfrm>
          <a:prstGeom prst="rect">
            <a:avLst/>
          </a:prstGeom>
          <a:noFill/>
          <a:ln/>
        </p:spPr>
        <p:txBody>
          <a:bodyPr wrap="square" lIns="0" tIns="0" rIns="0" bIns="0" rtlCol="0" anchor="t"/>
          <a:lstStyle/>
          <a:p>
            <a:pPr algn="ctr">
              <a:lnSpc>
                <a:spcPts val="2880"/>
              </a:lnSpc>
            </a:pPr>
            <a:r>
              <a:rPr lang="en-US" sz="2400" b="1" kern="0" spc="-12" dirty="0">
                <a:solidFill>
                  <a:srgbClr val="000000"/>
                </a:solidFill>
                <a:latin typeface="Inter" pitchFamily="34" charset="0"/>
                <a:ea typeface="Inter" pitchFamily="34" charset="-122"/>
                <a:cs typeface="Inter" pitchFamily="34" charset="-120"/>
              </a:rPr>
              <a:t>27 Regulatory Systems </a:t>
            </a:r>
            <a:r>
              <a:rPr lang="en-US" sz="2400" b="1" kern="0" spc="-12" dirty="0">
                <a:solidFill>
                  <a:srgbClr val="FFCA00"/>
                </a:solidFill>
                <a:latin typeface="Inter" pitchFamily="34" charset="0"/>
                <a:ea typeface="Inter" pitchFamily="34" charset="-122"/>
                <a:cs typeface="Inter" pitchFamily="34" charset="-120"/>
              </a:rPr>
              <a:t>.</a:t>
            </a:r>
            <a:endParaRPr lang="en-US" sz="2063" dirty="0"/>
          </a:p>
        </p:txBody>
      </p:sp>
      <p:sp>
        <p:nvSpPr>
          <p:cNvPr id="4" name="Text 1"/>
          <p:cNvSpPr/>
          <p:nvPr/>
        </p:nvSpPr>
        <p:spPr>
          <a:xfrm>
            <a:off x="476040" y="2419069"/>
            <a:ext cx="8191985" cy="365745"/>
          </a:xfrm>
          <a:prstGeom prst="rect">
            <a:avLst/>
          </a:prstGeom>
          <a:noFill/>
          <a:ln/>
        </p:spPr>
        <p:txBody>
          <a:bodyPr wrap="square" lIns="0" tIns="0" rIns="0" bIns="0" rtlCol="0" anchor="t"/>
          <a:lstStyle/>
          <a:p>
            <a:pPr algn="ctr">
              <a:lnSpc>
                <a:spcPts val="2880"/>
              </a:lnSpc>
            </a:pPr>
            <a:r>
              <a:rPr lang="en-US" sz="2400" b="1" kern="0" spc="-12" dirty="0">
                <a:solidFill>
                  <a:srgbClr val="000000"/>
                </a:solidFill>
                <a:latin typeface="Inter" pitchFamily="34" charset="0"/>
                <a:ea typeface="Inter" pitchFamily="34" charset="-122"/>
                <a:cs typeface="Inter" pitchFamily="34" charset="-120"/>
              </a:rPr>
              <a:t>24 Languages </a:t>
            </a:r>
            <a:r>
              <a:rPr lang="en-US" sz="2400" b="1" kern="0" spc="-12" dirty="0">
                <a:solidFill>
                  <a:srgbClr val="FFCA00"/>
                </a:solidFill>
                <a:latin typeface="Inter" pitchFamily="34" charset="0"/>
                <a:ea typeface="Inter" pitchFamily="34" charset="-122"/>
                <a:cs typeface="Inter" pitchFamily="34" charset="-120"/>
              </a:rPr>
              <a:t>.</a:t>
            </a:r>
            <a:endParaRPr lang="en-US" sz="2063" dirty="0"/>
          </a:p>
        </p:txBody>
      </p:sp>
      <p:sp>
        <p:nvSpPr>
          <p:cNvPr id="5" name="Text 2"/>
          <p:cNvSpPr/>
          <p:nvPr/>
        </p:nvSpPr>
        <p:spPr>
          <a:xfrm>
            <a:off x="476040" y="3409594"/>
            <a:ext cx="8191985" cy="365745"/>
          </a:xfrm>
          <a:prstGeom prst="rect">
            <a:avLst/>
          </a:prstGeom>
          <a:noFill/>
          <a:ln/>
        </p:spPr>
        <p:txBody>
          <a:bodyPr wrap="square" lIns="0" tIns="0" rIns="0" bIns="0" rtlCol="0" anchor="t"/>
          <a:lstStyle/>
          <a:p>
            <a:pPr algn="ctr">
              <a:lnSpc>
                <a:spcPts val="2880"/>
              </a:lnSpc>
            </a:pPr>
            <a:r>
              <a:rPr lang="en-US" sz="2400" b="1" kern="0" spc="-12" dirty="0">
                <a:solidFill>
                  <a:srgbClr val="000000"/>
                </a:solidFill>
                <a:latin typeface="Inter" pitchFamily="34" charset="0"/>
                <a:ea typeface="Inter" pitchFamily="34" charset="-122"/>
                <a:cs typeface="Inter" pitchFamily="34" charset="-120"/>
              </a:rPr>
              <a:t>Patchwork of tax, labor and data laws </a:t>
            </a:r>
            <a:r>
              <a:rPr lang="en-US" sz="2400" b="1" kern="0" spc="-12" dirty="0">
                <a:solidFill>
                  <a:srgbClr val="FFCA00"/>
                </a:solidFill>
                <a:latin typeface="Inter" pitchFamily="34" charset="0"/>
                <a:ea typeface="Inter" pitchFamily="34" charset="-122"/>
                <a:cs typeface="Inter" pitchFamily="34" charset="-120"/>
              </a:rPr>
              <a:t>.</a:t>
            </a:r>
            <a:endParaRPr lang="en-US" sz="2063"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C"/>
        </a:solidFill>
        <a:effectLst/>
      </p:bgPr>
    </p:bg>
    <p:spTree>
      <p:nvGrpSpPr>
        <p:cNvPr id="1" name=""/>
        <p:cNvGrpSpPr/>
        <p:nvPr/>
      </p:nvGrpSpPr>
      <p:grpSpPr>
        <a:xfrm>
          <a:off x="0" y="0"/>
          <a:ext cx="0" cy="0"/>
          <a:chOff x="0" y="0"/>
          <a:chExt cx="0" cy="0"/>
        </a:xfrm>
      </p:grpSpPr>
      <p:sp>
        <p:nvSpPr>
          <p:cNvPr id="3" name="Text 0"/>
          <p:cNvSpPr/>
          <p:nvPr/>
        </p:nvSpPr>
        <p:spPr>
          <a:xfrm>
            <a:off x="476041" y="2390974"/>
            <a:ext cx="8191983" cy="365745"/>
          </a:xfrm>
          <a:prstGeom prst="rect">
            <a:avLst/>
          </a:prstGeom>
          <a:noFill/>
          <a:ln/>
        </p:spPr>
        <p:txBody>
          <a:bodyPr wrap="square" lIns="0" tIns="0" rIns="0" bIns="0" rtlCol="0" anchor="t"/>
          <a:lstStyle/>
          <a:p>
            <a:pPr algn="ctr">
              <a:lnSpc>
                <a:spcPts val="2880"/>
              </a:lnSpc>
            </a:pPr>
            <a:r>
              <a:rPr lang="en-US" sz="2400" b="1" i="1" kern="0" spc="-12" dirty="0">
                <a:solidFill>
                  <a:srgbClr val="FFCA00"/>
                </a:solidFill>
                <a:latin typeface="Inter" pitchFamily="34" charset="0"/>
                <a:ea typeface="Inter" pitchFamily="34" charset="-122"/>
                <a:cs typeface="Inter" pitchFamily="34" charset="-120"/>
              </a:rPr>
              <a:t>“</a:t>
            </a:r>
            <a:r>
              <a:rPr lang="en-US" sz="2400" b="1" i="1" kern="0" spc="-12" dirty="0">
                <a:solidFill>
                  <a:srgbClr val="000000"/>
                </a:solidFill>
                <a:latin typeface="Inter" pitchFamily="34" charset="0"/>
                <a:ea typeface="Inter" pitchFamily="34" charset="-122"/>
                <a:cs typeface="Inter" pitchFamily="34" charset="-120"/>
              </a:rPr>
              <a:t> </a:t>
            </a:r>
            <a:r>
              <a:rPr lang="en-US" sz="2100" b="1" kern="0" spc="-12" dirty="0">
                <a:solidFill>
                  <a:srgbClr val="000000"/>
                </a:solidFill>
                <a:latin typeface="Inter" pitchFamily="34" charset="0"/>
                <a:ea typeface="Inter" pitchFamily="34" charset="-122"/>
                <a:cs typeface="Inter" pitchFamily="34" charset="-120"/>
              </a:rPr>
              <a:t>America innovates, EU regulates.</a:t>
            </a:r>
            <a:r>
              <a:rPr lang="en-US" sz="2100" b="1" i="1" kern="0" spc="-12" dirty="0">
                <a:solidFill>
                  <a:srgbClr val="000000"/>
                </a:solidFill>
                <a:latin typeface="Inter" pitchFamily="34" charset="0"/>
                <a:ea typeface="Inter" pitchFamily="34" charset="-122"/>
                <a:cs typeface="Inter" pitchFamily="34" charset="-120"/>
              </a:rPr>
              <a:t> </a:t>
            </a:r>
            <a:r>
              <a:rPr lang="en-US" sz="2400" b="1" i="1" kern="0" spc="-12" dirty="0">
                <a:solidFill>
                  <a:srgbClr val="FFCA00"/>
                </a:solidFill>
                <a:latin typeface="Inter" pitchFamily="34" charset="0"/>
                <a:ea typeface="Inter" pitchFamily="34" charset="-122"/>
                <a:cs typeface="Inter" pitchFamily="34" charset="-120"/>
              </a:rPr>
              <a:t>”</a:t>
            </a:r>
            <a:endParaRPr lang="en-US" sz="2063"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C"/>
        </a:solidFill>
        <a:effectLst/>
      </p:bgPr>
    </p:bg>
    <p:spTree>
      <p:nvGrpSpPr>
        <p:cNvPr id="1" name=""/>
        <p:cNvGrpSpPr/>
        <p:nvPr/>
      </p:nvGrpSpPr>
      <p:grpSpPr>
        <a:xfrm>
          <a:off x="0" y="0"/>
          <a:ext cx="0" cy="0"/>
          <a:chOff x="0" y="0"/>
          <a:chExt cx="0" cy="0"/>
        </a:xfrm>
      </p:grpSpPr>
      <p:pic>
        <p:nvPicPr>
          <p:cNvPr id="3" name="Image 0" descr="https://pitch-assets-ccb95893-de3f-4266-973c-20049231b248.s3.eu-west-1.amazonaws.com/23c08dd6-c1cf-4b9e-b5ec-211edf15c93a?pitch-bytes=165513&amp;pitch-content-type=image%2Fpng"/>
          <p:cNvPicPr>
            <a:picLocks noChangeAspect="1"/>
          </p:cNvPicPr>
          <p:nvPr/>
        </p:nvPicPr>
        <p:blipFill>
          <a:blip r:embed="rId3"/>
          <a:srcRect/>
          <a:stretch/>
        </p:blipFill>
        <p:spPr>
          <a:xfrm>
            <a:off x="7614725" y="4361031"/>
            <a:ext cx="246963" cy="246963"/>
          </a:xfrm>
          <a:prstGeom prst="rect">
            <a:avLst/>
          </a:prstGeom>
        </p:spPr>
      </p:pic>
      <p:sp>
        <p:nvSpPr>
          <p:cNvPr id="4" name="Shape 0"/>
          <p:cNvSpPr/>
          <p:nvPr/>
        </p:nvSpPr>
        <p:spPr>
          <a:xfrm rot="600000">
            <a:off x="7792531" y="4332131"/>
            <a:ext cx="229402" cy="322813"/>
          </a:xfrm>
          <a:prstGeom prst="roundRect">
            <a:avLst>
              <a:gd name="adj" fmla="val 11250"/>
            </a:avLst>
          </a:prstGeom>
          <a:solidFill>
            <a:srgbClr val="FAFAFC"/>
          </a:solidFill>
          <a:ln w="21167">
            <a:solidFill>
              <a:srgbClr val="FAFAFC"/>
            </a:solidFill>
            <a:prstDash val="solid"/>
          </a:ln>
        </p:spPr>
        <p:txBody>
          <a:bodyPr/>
          <a:lstStyle/>
          <a:p>
            <a:endParaRPr lang="en-DE"/>
          </a:p>
        </p:txBody>
      </p:sp>
      <p:sp>
        <p:nvSpPr>
          <p:cNvPr id="5" name="Text 1"/>
          <p:cNvSpPr/>
          <p:nvPr/>
        </p:nvSpPr>
        <p:spPr>
          <a:xfrm>
            <a:off x="6589298" y="4360860"/>
            <a:ext cx="3225254" cy="274290"/>
          </a:xfrm>
          <a:prstGeom prst="rect">
            <a:avLst/>
          </a:prstGeom>
          <a:noFill/>
          <a:ln/>
        </p:spPr>
        <p:txBody>
          <a:bodyPr wrap="square" lIns="0" tIns="0" rIns="0" bIns="0" rtlCol="0" anchor="t"/>
          <a:lstStyle/>
          <a:p>
            <a:pPr algn="ctr">
              <a:lnSpc>
                <a:spcPts val="2160"/>
              </a:lnSpc>
            </a:pPr>
            <a:r>
              <a:rPr lang="en-US" sz="1800" b="1" i="1" kern="0" spc="-12" dirty="0">
                <a:solidFill>
                  <a:srgbClr val="000000"/>
                </a:solidFill>
                <a:latin typeface="Inter" pitchFamily="34" charset="0"/>
                <a:ea typeface="Inter" pitchFamily="34" charset="-122"/>
                <a:cs typeface="Inter" pitchFamily="34" charset="-120"/>
              </a:rPr>
              <a:t>EUgene</a:t>
            </a:r>
            <a:endParaRPr lang="en-US" sz="1800" dirty="0"/>
          </a:p>
        </p:txBody>
      </p:sp>
      <p:pic>
        <p:nvPicPr>
          <p:cNvPr id="6" name="Image 1" descr="https://pitch-assets-ccb95893-de3f-4266-973c-20049231b248.s3.eu-west-1.amazonaws.com/8a3f36bd-402e-4c98-a212-e9af3813fa1d?pitch-bytes=65204&amp;pitch-content-type=image%2Fjpeg"/>
          <p:cNvPicPr>
            <a:picLocks noChangeAspect="1"/>
          </p:cNvPicPr>
          <p:nvPr/>
        </p:nvPicPr>
        <p:blipFill>
          <a:blip r:embed="rId4"/>
          <a:srcRect/>
          <a:stretch/>
        </p:blipFill>
        <p:spPr>
          <a:xfrm>
            <a:off x="1021983" y="1756873"/>
            <a:ext cx="5444235" cy="3385633"/>
          </a:xfrm>
          <a:prstGeom prst="rect">
            <a:avLst/>
          </a:prstGeom>
        </p:spPr>
      </p:pic>
      <p:sp>
        <p:nvSpPr>
          <p:cNvPr id="7" name="Text 2"/>
          <p:cNvSpPr/>
          <p:nvPr/>
        </p:nvSpPr>
        <p:spPr>
          <a:xfrm>
            <a:off x="476041" y="473648"/>
            <a:ext cx="8191984" cy="365745"/>
          </a:xfrm>
          <a:prstGeom prst="rect">
            <a:avLst/>
          </a:prstGeom>
          <a:noFill/>
          <a:ln/>
        </p:spPr>
        <p:txBody>
          <a:bodyPr wrap="square" lIns="0" tIns="0" rIns="0" bIns="0" rtlCol="0" anchor="t"/>
          <a:lstStyle/>
          <a:p>
            <a:pPr algn="ctr">
              <a:lnSpc>
                <a:spcPts val="2880"/>
              </a:lnSpc>
            </a:pPr>
            <a:r>
              <a:rPr lang="en-US" sz="2400" b="1" kern="0" spc="-12" dirty="0">
                <a:solidFill>
                  <a:srgbClr val="000000"/>
                </a:solidFill>
                <a:latin typeface="Inter" pitchFamily="34" charset="0"/>
                <a:ea typeface="Inter" pitchFamily="34" charset="-122"/>
                <a:cs typeface="Inter" pitchFamily="34" charset="-120"/>
              </a:rPr>
              <a:t>Live Demo</a:t>
            </a:r>
            <a:endParaRPr lang="en-US" sz="2063"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C"/>
        </a:solidFill>
        <a:effectLst/>
      </p:bgPr>
    </p:bg>
    <p:spTree>
      <p:nvGrpSpPr>
        <p:cNvPr id="1" name=""/>
        <p:cNvGrpSpPr/>
        <p:nvPr/>
      </p:nvGrpSpPr>
      <p:grpSpPr>
        <a:xfrm>
          <a:off x="0" y="0"/>
          <a:ext cx="0" cy="0"/>
          <a:chOff x="0" y="0"/>
          <a:chExt cx="0" cy="0"/>
        </a:xfrm>
      </p:grpSpPr>
      <p:sp>
        <p:nvSpPr>
          <p:cNvPr id="3" name="Text 0"/>
          <p:cNvSpPr/>
          <p:nvPr/>
        </p:nvSpPr>
        <p:spPr>
          <a:xfrm>
            <a:off x="4697718" y="591793"/>
            <a:ext cx="3968895" cy="3968895"/>
          </a:xfrm>
          <a:prstGeom prst="ellipse">
            <a:avLst/>
          </a:prstGeom>
          <a:solidFill>
            <a:srgbClr val="FFFFFF">
              <a:alpha val="0"/>
            </a:srgbClr>
          </a:solidFill>
          <a:ln w="10583">
            <a:solidFill>
              <a:srgbClr val="000000">
                <a:alpha val="30000"/>
              </a:srgbClr>
            </a:solidFill>
          </a:ln>
        </p:spPr>
        <p:txBody>
          <a:bodyPr wrap="square" lIns="220494" tIns="468550" rIns="220494" bIns="468550" rtlCol="0" anchor="ctr"/>
          <a:lstStyle/>
          <a:p>
            <a:pPr algn="ctr">
              <a:lnSpc>
                <a:spcPts val="975"/>
              </a:lnSpc>
            </a:pPr>
            <a:endParaRPr lang="en-US" sz="750" dirty="0"/>
          </a:p>
        </p:txBody>
      </p:sp>
      <p:sp>
        <p:nvSpPr>
          <p:cNvPr id="4" name="Text 1"/>
          <p:cNvSpPr/>
          <p:nvPr/>
        </p:nvSpPr>
        <p:spPr>
          <a:xfrm>
            <a:off x="5308712" y="1813780"/>
            <a:ext cx="2746909" cy="2746909"/>
          </a:xfrm>
          <a:prstGeom prst="ellipse">
            <a:avLst/>
          </a:prstGeom>
          <a:solidFill>
            <a:srgbClr val="FFFFFF">
              <a:alpha val="0"/>
            </a:srgbClr>
          </a:solidFill>
          <a:ln w="10583">
            <a:solidFill>
              <a:srgbClr val="000000">
                <a:alpha val="60000"/>
              </a:srgbClr>
            </a:solidFill>
          </a:ln>
        </p:spPr>
        <p:txBody>
          <a:bodyPr wrap="square" lIns="152606" tIns="324288" rIns="152606" bIns="324288" rtlCol="0" anchor="ctr"/>
          <a:lstStyle/>
          <a:p>
            <a:pPr algn="ctr">
              <a:lnSpc>
                <a:spcPts val="975"/>
              </a:lnSpc>
            </a:pPr>
            <a:endParaRPr lang="en-US" sz="750" dirty="0"/>
          </a:p>
        </p:txBody>
      </p:sp>
      <p:sp>
        <p:nvSpPr>
          <p:cNvPr id="5" name="Shape 2"/>
          <p:cNvSpPr/>
          <p:nvPr/>
        </p:nvSpPr>
        <p:spPr>
          <a:xfrm>
            <a:off x="5863107" y="2922852"/>
            <a:ext cx="1632550" cy="1634241"/>
          </a:xfrm>
          <a:prstGeom prst="ellipse">
            <a:avLst/>
          </a:prstGeom>
          <a:solidFill>
            <a:srgbClr val="FFFFFF">
              <a:alpha val="0"/>
            </a:srgbClr>
          </a:solidFill>
          <a:ln w="10583">
            <a:solidFill>
              <a:srgbClr val="000000"/>
            </a:solidFill>
            <a:prstDash val="solid"/>
          </a:ln>
        </p:spPr>
        <p:txBody>
          <a:bodyPr/>
          <a:lstStyle/>
          <a:p>
            <a:endParaRPr lang="en-DE"/>
          </a:p>
        </p:txBody>
      </p:sp>
      <p:sp>
        <p:nvSpPr>
          <p:cNvPr id="6" name="Text 3"/>
          <p:cNvSpPr/>
          <p:nvPr/>
        </p:nvSpPr>
        <p:spPr>
          <a:xfrm>
            <a:off x="6145032" y="3538615"/>
            <a:ext cx="1081125" cy="396218"/>
          </a:xfrm>
          <a:prstGeom prst="rect">
            <a:avLst/>
          </a:prstGeom>
          <a:noFill/>
          <a:ln/>
        </p:spPr>
        <p:txBody>
          <a:bodyPr wrap="square" lIns="0" tIns="0" rIns="0" bIns="0" rtlCol="0" anchor="ctr"/>
          <a:lstStyle/>
          <a:p>
            <a:pPr algn="ctr">
              <a:lnSpc>
                <a:spcPts val="3120"/>
              </a:lnSpc>
            </a:pPr>
            <a:r>
              <a:rPr lang="en-US" sz="2400" kern="0" spc="-12" dirty="0">
                <a:solidFill>
                  <a:srgbClr val="FFCA00"/>
                </a:solidFill>
                <a:latin typeface="Inter" pitchFamily="34" charset="0"/>
                <a:ea typeface="Inter" pitchFamily="34" charset="-122"/>
              </a:rPr>
              <a:t>€250M</a:t>
            </a:r>
          </a:p>
        </p:txBody>
      </p:sp>
      <p:sp>
        <p:nvSpPr>
          <p:cNvPr id="7" name="Text 4"/>
          <p:cNvSpPr/>
          <p:nvPr/>
        </p:nvSpPr>
        <p:spPr>
          <a:xfrm>
            <a:off x="6229265" y="2270780"/>
            <a:ext cx="904987" cy="396218"/>
          </a:xfrm>
          <a:prstGeom prst="rect">
            <a:avLst/>
          </a:prstGeom>
          <a:noFill/>
          <a:ln/>
        </p:spPr>
        <p:txBody>
          <a:bodyPr wrap="square" lIns="0" tIns="0" rIns="0" bIns="0" rtlCol="0" anchor="ctr"/>
          <a:lstStyle/>
          <a:p>
            <a:pPr algn="ctr">
              <a:lnSpc>
                <a:spcPts val="3120"/>
              </a:lnSpc>
            </a:pPr>
            <a:r>
              <a:rPr lang="en-US" sz="2400" b="0" kern="0" spc="24" dirty="0">
                <a:latin typeface="Inter" pitchFamily="34" charset="0"/>
                <a:ea typeface="Inter" pitchFamily="34" charset="-122"/>
                <a:cs typeface="Inter" pitchFamily="34" charset="-120"/>
              </a:rPr>
              <a:t>€20B</a:t>
            </a:r>
            <a:endParaRPr lang="en-US" sz="2400" dirty="0"/>
          </a:p>
        </p:txBody>
      </p:sp>
      <p:sp>
        <p:nvSpPr>
          <p:cNvPr id="8" name="Text 5"/>
          <p:cNvSpPr/>
          <p:nvPr/>
        </p:nvSpPr>
        <p:spPr>
          <a:xfrm>
            <a:off x="6070883" y="1058967"/>
            <a:ext cx="1213954" cy="396218"/>
          </a:xfrm>
          <a:prstGeom prst="rect">
            <a:avLst/>
          </a:prstGeom>
          <a:noFill/>
          <a:ln/>
        </p:spPr>
        <p:txBody>
          <a:bodyPr wrap="square" lIns="0" tIns="0" rIns="0" bIns="0" rtlCol="0" anchor="ctr"/>
          <a:lstStyle/>
          <a:p>
            <a:pPr algn="ctr">
              <a:lnSpc>
                <a:spcPts val="3120"/>
              </a:lnSpc>
            </a:pPr>
            <a:r>
              <a:rPr lang="en-US" sz="2400" b="0" kern="0" spc="24" dirty="0">
                <a:solidFill>
                  <a:schemeClr val="bg1">
                    <a:lumMod val="50000"/>
                  </a:schemeClr>
                </a:solidFill>
                <a:latin typeface="Inter" pitchFamily="34" charset="0"/>
                <a:ea typeface="Inter" pitchFamily="34" charset="-122"/>
                <a:cs typeface="Inter" pitchFamily="34" charset="-120"/>
              </a:rPr>
              <a:t>€170B</a:t>
            </a:r>
            <a:endParaRPr lang="en-US" sz="2400" dirty="0">
              <a:solidFill>
                <a:schemeClr val="bg1">
                  <a:lumMod val="50000"/>
                </a:schemeClr>
              </a:solidFill>
            </a:endParaRPr>
          </a:p>
        </p:txBody>
      </p:sp>
      <p:sp>
        <p:nvSpPr>
          <p:cNvPr id="9" name="Text 6"/>
          <p:cNvSpPr/>
          <p:nvPr/>
        </p:nvSpPr>
        <p:spPr>
          <a:xfrm>
            <a:off x="476250" y="1393736"/>
            <a:ext cx="3982083" cy="320018"/>
          </a:xfrm>
          <a:prstGeom prst="rect">
            <a:avLst/>
          </a:prstGeom>
          <a:noFill/>
          <a:ln/>
        </p:spPr>
        <p:txBody>
          <a:bodyPr wrap="square" lIns="0" tIns="0" rIns="0" bIns="0" rtlCol="0" anchor="t"/>
          <a:lstStyle/>
          <a:p>
            <a:pPr algn="l">
              <a:lnSpc>
                <a:spcPts val="2520"/>
              </a:lnSpc>
            </a:pPr>
            <a:r>
              <a:rPr lang="en-US" sz="1400" b="1" kern="0" spc="36" dirty="0">
                <a:solidFill>
                  <a:srgbClr val="000000"/>
                </a:solidFill>
                <a:latin typeface="Inter" pitchFamily="34" charset="0"/>
                <a:ea typeface="Inter" pitchFamily="34" charset="-122"/>
                <a:cs typeface="Inter" pitchFamily="34" charset="-120"/>
              </a:rPr>
              <a:t>Annual EU Spending on Compliance</a:t>
            </a:r>
            <a:endParaRPr lang="en-US" sz="1800" b="1" dirty="0"/>
          </a:p>
        </p:txBody>
      </p:sp>
      <p:sp>
        <p:nvSpPr>
          <p:cNvPr id="10" name="Shape 7"/>
          <p:cNvSpPr/>
          <p:nvPr/>
        </p:nvSpPr>
        <p:spPr>
          <a:xfrm>
            <a:off x="476402" y="1379766"/>
            <a:ext cx="5594719" cy="0"/>
          </a:xfrm>
          <a:prstGeom prst="line">
            <a:avLst/>
          </a:prstGeom>
          <a:solidFill>
            <a:srgbClr val="000000"/>
          </a:solidFill>
          <a:ln w="5292">
            <a:solidFill>
              <a:srgbClr val="000000"/>
            </a:solidFill>
            <a:prstDash val="solid"/>
            <a:headEnd type="none"/>
            <a:tailEnd type="none"/>
          </a:ln>
        </p:spPr>
        <p:txBody>
          <a:bodyPr/>
          <a:lstStyle/>
          <a:p>
            <a:endParaRPr lang="en-DE"/>
          </a:p>
        </p:txBody>
      </p:sp>
      <p:sp>
        <p:nvSpPr>
          <p:cNvPr id="11" name="Shape 8"/>
          <p:cNvSpPr/>
          <p:nvPr/>
        </p:nvSpPr>
        <p:spPr>
          <a:xfrm>
            <a:off x="477185" y="2571439"/>
            <a:ext cx="5593065" cy="0"/>
          </a:xfrm>
          <a:prstGeom prst="line">
            <a:avLst/>
          </a:prstGeom>
          <a:solidFill>
            <a:srgbClr val="000000"/>
          </a:solidFill>
          <a:ln w="5292">
            <a:solidFill>
              <a:srgbClr val="000000"/>
            </a:solidFill>
            <a:prstDash val="solid"/>
            <a:headEnd type="none"/>
            <a:tailEnd type="none"/>
          </a:ln>
        </p:spPr>
        <p:txBody>
          <a:bodyPr/>
          <a:lstStyle/>
          <a:p>
            <a:endParaRPr lang="en-DE"/>
          </a:p>
        </p:txBody>
      </p:sp>
      <p:sp>
        <p:nvSpPr>
          <p:cNvPr id="12" name="Shape 9"/>
          <p:cNvSpPr/>
          <p:nvPr/>
        </p:nvSpPr>
        <p:spPr>
          <a:xfrm>
            <a:off x="477521" y="3767360"/>
            <a:ext cx="5593552" cy="0"/>
          </a:xfrm>
          <a:prstGeom prst="line">
            <a:avLst/>
          </a:prstGeom>
          <a:solidFill>
            <a:srgbClr val="000000"/>
          </a:solidFill>
          <a:ln w="5292">
            <a:solidFill>
              <a:srgbClr val="000000"/>
            </a:solidFill>
            <a:prstDash val="solid"/>
            <a:headEnd type="none"/>
            <a:tailEnd type="none"/>
          </a:ln>
        </p:spPr>
        <p:txBody>
          <a:bodyPr/>
          <a:lstStyle/>
          <a:p>
            <a:endParaRPr lang="en-DE"/>
          </a:p>
        </p:txBody>
      </p:sp>
      <p:sp>
        <p:nvSpPr>
          <p:cNvPr id="13" name="Text 10"/>
          <p:cNvSpPr/>
          <p:nvPr/>
        </p:nvSpPr>
        <p:spPr>
          <a:xfrm>
            <a:off x="476250" y="2578295"/>
            <a:ext cx="6457243" cy="320018"/>
          </a:xfrm>
          <a:prstGeom prst="rect">
            <a:avLst/>
          </a:prstGeom>
          <a:noFill/>
          <a:ln/>
        </p:spPr>
        <p:txBody>
          <a:bodyPr wrap="square" lIns="0" tIns="0" rIns="0" bIns="0" rtlCol="0" anchor="t"/>
          <a:lstStyle/>
          <a:p>
            <a:pPr algn="l">
              <a:lnSpc>
                <a:spcPts val="2520"/>
              </a:lnSpc>
            </a:pPr>
            <a:r>
              <a:rPr lang="en-US" sz="1400" b="1" kern="0" spc="36" dirty="0">
                <a:solidFill>
                  <a:srgbClr val="000000"/>
                </a:solidFill>
                <a:latin typeface="Inter" pitchFamily="34" charset="0"/>
                <a:ea typeface="Inter" pitchFamily="34" charset="-122"/>
                <a:cs typeface="Inter" pitchFamily="34" charset="-120"/>
              </a:rPr>
              <a:t>Annual EU Spending on Regulatory Monitoring</a:t>
            </a:r>
            <a:endParaRPr lang="en-US" sz="1800" b="1" dirty="0"/>
          </a:p>
        </p:txBody>
      </p:sp>
      <p:sp>
        <p:nvSpPr>
          <p:cNvPr id="14" name="Text 11"/>
          <p:cNvSpPr/>
          <p:nvPr/>
        </p:nvSpPr>
        <p:spPr>
          <a:xfrm>
            <a:off x="476250" y="3768827"/>
            <a:ext cx="3982082" cy="320018"/>
          </a:xfrm>
          <a:prstGeom prst="rect">
            <a:avLst/>
          </a:prstGeom>
          <a:noFill/>
          <a:ln/>
        </p:spPr>
        <p:txBody>
          <a:bodyPr wrap="square" lIns="0" tIns="0" rIns="0" bIns="0" rtlCol="0" anchor="t"/>
          <a:lstStyle/>
          <a:p>
            <a:pPr algn="l">
              <a:lnSpc>
                <a:spcPts val="2520"/>
              </a:lnSpc>
            </a:pPr>
            <a:r>
              <a:rPr lang="en-US" sz="1400" b="1" kern="0" spc="36" dirty="0">
                <a:solidFill>
                  <a:srgbClr val="000000"/>
                </a:solidFill>
                <a:latin typeface="Inter" pitchFamily="34" charset="0"/>
                <a:ea typeface="Inter" pitchFamily="34" charset="-122"/>
                <a:cs typeface="Inter" pitchFamily="34" charset="-120"/>
              </a:rPr>
              <a:t>Compliance pressured industries</a:t>
            </a:r>
            <a:endParaRPr lang="en-US" sz="1800"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C"/>
        </a:solidFill>
        <a:effectLst/>
      </p:bgPr>
    </p:bg>
    <p:spTree>
      <p:nvGrpSpPr>
        <p:cNvPr id="1" name=""/>
        <p:cNvGrpSpPr/>
        <p:nvPr/>
      </p:nvGrpSpPr>
      <p:grpSpPr>
        <a:xfrm>
          <a:off x="0" y="0"/>
          <a:ext cx="0" cy="0"/>
          <a:chOff x="0" y="0"/>
          <a:chExt cx="0" cy="0"/>
        </a:xfrm>
      </p:grpSpPr>
      <p:sp>
        <p:nvSpPr>
          <p:cNvPr id="3" name="Text 0"/>
          <p:cNvSpPr/>
          <p:nvPr/>
        </p:nvSpPr>
        <p:spPr>
          <a:xfrm>
            <a:off x="476040" y="2252662"/>
            <a:ext cx="8191985" cy="942975"/>
          </a:xfrm>
          <a:prstGeom prst="rect">
            <a:avLst/>
          </a:prstGeom>
          <a:noFill/>
          <a:ln/>
        </p:spPr>
        <p:txBody>
          <a:bodyPr wrap="square" lIns="0" tIns="0" rIns="0" bIns="0" rtlCol="0" anchor="t"/>
          <a:lstStyle/>
          <a:p>
            <a:pPr algn="ctr">
              <a:lnSpc>
                <a:spcPts val="2475"/>
              </a:lnSpc>
            </a:pPr>
            <a:r>
              <a:rPr lang="en-US" sz="2100" b="1" kern="0" spc="-12" dirty="0">
                <a:solidFill>
                  <a:srgbClr val="000000">
                    <a:alpha val="40000"/>
                  </a:srgbClr>
                </a:solidFill>
                <a:latin typeface="Inter" pitchFamily="34" charset="0"/>
                <a:ea typeface="Inter" pitchFamily="34" charset="-122"/>
                <a:cs typeface="Inter" pitchFamily="34" charset="-120"/>
              </a:rPr>
              <a:t>If you’re building in Europe, this is your new superpower. </a:t>
            </a:r>
            <a:endParaRPr lang="en-US" sz="2063" dirty="0"/>
          </a:p>
          <a:p>
            <a:pPr algn="ctr">
              <a:lnSpc>
                <a:spcPts val="2475"/>
              </a:lnSpc>
            </a:pPr>
            <a:endParaRPr lang="en-US" sz="2063" dirty="0"/>
          </a:p>
          <a:p>
            <a:pPr algn="ctr">
              <a:lnSpc>
                <a:spcPts val="2475"/>
              </a:lnSpc>
            </a:pPr>
            <a:r>
              <a:rPr lang="en-US" sz="2100" b="1" kern="0" spc="-12" dirty="0">
                <a:solidFill>
                  <a:srgbClr val="000000"/>
                </a:solidFill>
                <a:latin typeface="Inter" pitchFamily="34" charset="0"/>
                <a:ea typeface="Inter" pitchFamily="34" charset="-122"/>
                <a:cs typeface="Inter" pitchFamily="34" charset="-120"/>
              </a:rPr>
              <a:t>Let’s see EUgene in action</a:t>
            </a:r>
            <a:r>
              <a:rPr lang="en-US" sz="2100" b="1" kern="0" spc="-12" dirty="0">
                <a:solidFill>
                  <a:srgbClr val="FFCA00"/>
                </a:solidFill>
                <a:latin typeface="Inter" pitchFamily="34" charset="0"/>
                <a:ea typeface="Inter" pitchFamily="34" charset="-122"/>
                <a:cs typeface="Inter" pitchFamily="34" charset="-120"/>
              </a:rPr>
              <a:t>.</a:t>
            </a:r>
            <a:endParaRPr lang="en-US" sz="2063"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465</Words>
  <Application>Microsoft Office PowerPoint</Application>
  <PresentationFormat>On-screen Show (16:9)</PresentationFormat>
  <Paragraphs>41</Paragraphs>
  <Slides>8</Slides>
  <Notes>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8</vt:i4>
      </vt:variant>
    </vt:vector>
  </HeadingPairs>
  <TitlesOfParts>
    <vt:vector size="10" baseType="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EUgene</dc:title>
  <dc:subject>PptxGenJS Presentation</dc:subject>
  <dc:creator>Pitch Software GmbH</dc:creator>
  <cp:lastModifiedBy>Kenny Nguyen</cp:lastModifiedBy>
  <cp:revision>2</cp:revision>
  <dcterms:created xsi:type="dcterms:W3CDTF">2025-11-30T10:16:42Z</dcterms:created>
  <dcterms:modified xsi:type="dcterms:W3CDTF">2025-11-30T10:19:08Z</dcterms:modified>
</cp:coreProperties>
</file>